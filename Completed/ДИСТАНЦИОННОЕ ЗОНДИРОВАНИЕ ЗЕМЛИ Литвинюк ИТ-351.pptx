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1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6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58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7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61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55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07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6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01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56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62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146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498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839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821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750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3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FE3469A-E6E4-4FF1-8934-F7585F70528B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A46EB-28B5-4643-8F8D-44B8FC90A5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116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FF055-3163-62CC-D45D-61F3F9B01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ДИСТАНЦИОННОЕ ЗОНДИРОВАНИЕ ЗЕМЛИ (ДЗЗ)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DBF8C9-2B7A-4543-872F-0572F1763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Изучение планеты без прямого контакта</a:t>
            </a:r>
            <a:br>
              <a:rPr lang="ru-RU" dirty="0"/>
            </a:br>
            <a:br>
              <a:rPr lang="ru-RU" dirty="0"/>
            </a:br>
            <a:r>
              <a:rPr lang="ru-RU" dirty="0" err="1"/>
              <a:t>Литвинюк</a:t>
            </a:r>
            <a:r>
              <a:rPr lang="ru-RU" dirty="0"/>
              <a:t> ИЛЬЯ ИТ-351</a:t>
            </a:r>
          </a:p>
        </p:txBody>
      </p:sp>
    </p:spTree>
    <p:extLst>
      <p:ext uri="{BB962C8B-B14F-4D97-AF65-F5344CB8AC3E}">
        <p14:creationId xmlns:p14="http://schemas.microsoft.com/office/powerpoint/2010/main" val="204556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EA1E4-0EB9-21DE-8686-06A57CE6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ДЗЗ?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32006-6284-EA85-92CE-DE12B4118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992688" cy="4195481"/>
          </a:xfrm>
        </p:spPr>
        <p:txBody>
          <a:bodyPr/>
          <a:lstStyle/>
          <a:p>
            <a:r>
              <a:rPr lang="ru-RU" b="1" dirty="0"/>
              <a:t>ДЗЗ</a:t>
            </a:r>
            <a:r>
              <a:rPr lang="ru-RU" dirty="0"/>
              <a:t> - сбор данных о Земле с помощью спутников, самолетов и дронов </a:t>
            </a:r>
            <a:r>
              <a:rPr lang="ru-RU" i="1" dirty="0"/>
              <a:t>без физического контакта</a:t>
            </a:r>
            <a:r>
              <a:rPr lang="ru-RU" dirty="0"/>
              <a:t>.</a:t>
            </a:r>
          </a:p>
          <a:p>
            <a:r>
              <a:rPr lang="ru-RU" b="1" dirty="0"/>
              <a:t>Суть</a:t>
            </a:r>
            <a:r>
              <a:rPr lang="ru-RU" dirty="0"/>
              <a:t> - анализ </a:t>
            </a:r>
            <a:r>
              <a:rPr lang="ru-RU" i="1" dirty="0"/>
              <a:t>электромагнитного излучения </a:t>
            </a:r>
            <a:r>
              <a:rPr lang="ru-RU" dirty="0"/>
              <a:t>(отраженного или излученного объектами).</a:t>
            </a:r>
          </a:p>
          <a:p>
            <a:r>
              <a:rPr lang="ru-RU" b="1" dirty="0"/>
              <a:t>ДЗЗ</a:t>
            </a:r>
            <a:r>
              <a:rPr lang="ru-RU" dirty="0"/>
              <a:t> - Это не просто фотоснимки, а «взгляд» в разных невидимых глазу диапазонах, что раскрывает скрытую информацию.</a:t>
            </a:r>
          </a:p>
          <a:p>
            <a:endParaRPr lang="ru-RU" dirty="0"/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3067D950-A1E1-3B90-A8B6-4C1A03084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648" y="1853247"/>
            <a:ext cx="5860201" cy="439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99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7156D-A332-710B-4293-88CA698F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работает? Два ключевых параметра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8A808-A543-9128-4F8E-A1FF1842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5133586" cy="4195481"/>
          </a:xfrm>
        </p:spPr>
        <p:txBody>
          <a:bodyPr/>
          <a:lstStyle/>
          <a:p>
            <a:r>
              <a:rPr lang="ru-RU" b="1" dirty="0"/>
              <a:t>Спектральные каналы:</a:t>
            </a:r>
            <a:br>
              <a:rPr lang="ru-RU" b="1" dirty="0"/>
            </a:br>
            <a:r>
              <a:rPr lang="ru-RU" i="1" dirty="0"/>
              <a:t>Видимый</a:t>
            </a:r>
            <a:r>
              <a:rPr lang="ru-RU" dirty="0"/>
              <a:t> — как наши глаза.</a:t>
            </a:r>
            <a:br>
              <a:rPr lang="ru-RU" dirty="0"/>
            </a:br>
            <a:r>
              <a:rPr lang="ru-RU" i="1" dirty="0"/>
              <a:t>Инфракрасный</a:t>
            </a:r>
            <a:r>
              <a:rPr lang="ru-RU" dirty="0"/>
              <a:t> — для оценки температуры и здоровья растений.</a:t>
            </a:r>
            <a:br>
              <a:rPr lang="ru-RU" dirty="0"/>
            </a:br>
            <a:r>
              <a:rPr lang="ru-RU" i="1" dirty="0"/>
              <a:t>Радиодиапазон (радар) </a:t>
            </a:r>
            <a:r>
              <a:rPr lang="ru-RU" dirty="0"/>
              <a:t>— видит сквозь облака и ночью.</a:t>
            </a:r>
          </a:p>
          <a:p>
            <a:r>
              <a:rPr lang="ru-RU" b="1" dirty="0"/>
              <a:t>Пространственное разрешение:</a:t>
            </a:r>
            <a:br>
              <a:rPr lang="ru-RU" b="1" dirty="0"/>
            </a:br>
            <a:r>
              <a:rPr lang="ru-RU" dirty="0"/>
              <a:t>Размер самого мелкого различимого объекта (от метров до сантиметров).</a:t>
            </a:r>
          </a:p>
        </p:txBody>
      </p:sp>
      <p:pic>
        <p:nvPicPr>
          <p:cNvPr id="2050" name="Picture 2" descr="Изображение">
            <a:extLst>
              <a:ext uri="{FF2B5EF4-FFF2-40B4-BE49-F238E27FC236}">
                <a16:creationId xmlns:a16="http://schemas.microsoft.com/office/drawing/2014/main" id="{E65CF5F8-40DB-B361-3CAF-C27315806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330" y="1369105"/>
            <a:ext cx="5388244" cy="503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EC7F2A-EA79-A772-C6B1-BC9198BA441D}"/>
              </a:ext>
            </a:extLst>
          </p:cNvPr>
          <p:cNvSpPr txBox="1"/>
          <p:nvPr/>
        </p:nvSpPr>
        <p:spPr>
          <a:xfrm>
            <a:off x="6490330" y="6405282"/>
            <a:ext cx="2927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i="1" dirty="0"/>
              <a:t>Пример работы ДЗЗ (спутник)</a:t>
            </a:r>
          </a:p>
        </p:txBody>
      </p:sp>
    </p:spTree>
    <p:extLst>
      <p:ext uri="{BB962C8B-B14F-4D97-AF65-F5344CB8AC3E}">
        <p14:creationId xmlns:p14="http://schemas.microsoft.com/office/powerpoint/2010/main" val="346636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C16FF-152D-1A85-1499-832B8084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Откуда ведется наблюдение?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EDE0B-F0EF-35B3-21C4-5FABAF864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3563579" cy="4195481"/>
          </a:xfrm>
        </p:spPr>
        <p:txBody>
          <a:bodyPr/>
          <a:lstStyle/>
          <a:p>
            <a:r>
              <a:rPr lang="ru-RU" b="1" dirty="0"/>
              <a:t>Спутники</a:t>
            </a:r>
            <a:r>
              <a:rPr lang="ru-RU" dirty="0"/>
              <a:t> (</a:t>
            </a:r>
            <a:r>
              <a:rPr lang="ru-RU" dirty="0" err="1"/>
              <a:t>Landsat</a:t>
            </a:r>
            <a:r>
              <a:rPr lang="ru-RU" dirty="0"/>
              <a:t>, Sentinel, Ресурс-П):</a:t>
            </a:r>
            <a:br>
              <a:rPr lang="ru-RU" dirty="0"/>
            </a:br>
            <a:r>
              <a:rPr lang="ru-RU" i="1" dirty="0"/>
              <a:t>Плюсы:</a:t>
            </a:r>
            <a:r>
              <a:rPr lang="ru-RU" dirty="0"/>
              <a:t> Охват всей планеты, регулярная съемка.</a:t>
            </a:r>
          </a:p>
          <a:p>
            <a:r>
              <a:rPr lang="ru-RU" b="1" dirty="0"/>
              <a:t>Самолеты и Дроны:</a:t>
            </a:r>
            <a:br>
              <a:rPr lang="ru-RU" b="1" dirty="0"/>
            </a:br>
            <a:r>
              <a:rPr lang="ru-RU" i="1" dirty="0"/>
              <a:t>Плюсы:</a:t>
            </a:r>
            <a:r>
              <a:rPr lang="ru-RU" dirty="0"/>
              <a:t> Высокая детализация, гибкость, съемка под облаками.</a:t>
            </a:r>
            <a:br>
              <a:rPr lang="ru-RU" dirty="0"/>
            </a:br>
            <a:endParaRPr lang="ru-RU" dirty="0"/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28B4E27B-DB6F-361F-98CB-5FD4C8EEF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539" y="1853248"/>
            <a:ext cx="6931028" cy="433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D49480-2E2D-F5FE-25FB-42B34E642D65}"/>
              </a:ext>
            </a:extLst>
          </p:cNvPr>
          <p:cNvSpPr txBox="1"/>
          <p:nvPr/>
        </p:nvSpPr>
        <p:spPr>
          <a:xfrm>
            <a:off x="4813539" y="6185140"/>
            <a:ext cx="1284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/>
              <a:t>Ресурс-П</a:t>
            </a:r>
          </a:p>
        </p:txBody>
      </p:sp>
    </p:spTree>
    <p:extLst>
      <p:ext uri="{BB962C8B-B14F-4D97-AF65-F5344CB8AC3E}">
        <p14:creationId xmlns:p14="http://schemas.microsoft.com/office/powerpoint/2010/main" val="13075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362FD-15B2-17A3-FFA4-B5B45BB7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РЕСУРС-П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931970-F990-26EC-232C-524811221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20" y="1152983"/>
            <a:ext cx="8988804" cy="4937266"/>
          </a:xfrm>
        </p:spPr>
        <p:txBody>
          <a:bodyPr>
            <a:noAutofit/>
          </a:bodyPr>
          <a:lstStyle/>
          <a:p>
            <a:r>
              <a:rPr lang="ru-RU" sz="1400" dirty="0"/>
              <a:t>Космический комплекс «Ресурс-П» предназначен для </a:t>
            </a:r>
            <a:r>
              <a:rPr lang="ru-RU" sz="1400" dirty="0" err="1"/>
              <a:t>высокодетального</a:t>
            </a:r>
            <a:r>
              <a:rPr lang="ru-RU" sz="1400" dirty="0"/>
              <a:t>, детального широкозахватного и гиперспектрального оптико-электронного наблюдения поверхности Земли и передачи данных по радиоканалу на наземные пункты приема информации.</a:t>
            </a:r>
          </a:p>
          <a:p>
            <a:r>
              <a:rPr lang="ru-RU" sz="1400" b="1" dirty="0"/>
              <a:t>Основные преимущества комплекса</a:t>
            </a:r>
            <a:endParaRPr lang="ru-RU" sz="1400" dirty="0"/>
          </a:p>
          <a:p>
            <a:pPr marL="457200" indent="-457200">
              <a:buFont typeface="+mj-lt"/>
              <a:buAutoNum type="arabicPeriod"/>
            </a:pPr>
            <a:r>
              <a:rPr lang="ru-RU" sz="1400" dirty="0"/>
              <a:t>сверхвысокое пространственное разрешение — лучше 1,0 м;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400" dirty="0"/>
              <a:t>RPC-полиномы — инструмент для повышения точности и ускорения процесса обработки данных;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400" dirty="0"/>
              <a:t>стереоскопическая съемка — возможность создания трехмерных моделей.</a:t>
            </a:r>
          </a:p>
          <a:p>
            <a:r>
              <a:rPr lang="ru-RU" sz="1400" b="1" dirty="0"/>
              <a:t>В состав целевой аппаратуры космических аппаратов входит: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Оптико-электронная аппаратура «Геотон-Л1» позволяет получать снимки земной поверхности в панхроматическом диапазоне с разрешением лучше 1 м, в узких спектральных диапазонах с разрешением — 3-4 м.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Гиперспектральная аппаратура позволяет получить данные о спектральной характеристике любых объектов на Земле. Гиперспектральная съемка представляет собой метод сбора и обработки информации из различных участков электромагнитного спектра. 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Комплекс широкозахватной мультиспектральной аппаратуры позволяет вести дистанционную оптико-электронную съемку земной и водной поверхности.</a:t>
            </a:r>
          </a:p>
          <a:p>
            <a:pPr>
              <a:buFont typeface="+mj-lt"/>
              <a:buAutoNum type="arabicPeriod"/>
            </a:pPr>
            <a:r>
              <a:rPr lang="ru-RU" sz="1400" dirty="0"/>
              <a:t>Бортовая аппаратура системы высокоскоростной радиолинии связи обеспечивает передачу информации с космического аппарата на наземный пункт приема информации.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844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61BAB-6ED7-BA32-9F30-C3DDB974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на практике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2B98E8-24B7-BF96-FB87-E9EF9515F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Сельское хозяйство:</a:t>
            </a:r>
            <a:r>
              <a:rPr lang="ru-RU" dirty="0"/>
              <a:t> Мониторинг состояния посевов, прогноз урожая.</a:t>
            </a:r>
          </a:p>
          <a:p>
            <a:r>
              <a:rPr lang="ru-RU" b="1" dirty="0"/>
              <a:t>Картография:</a:t>
            </a:r>
            <a:r>
              <a:rPr lang="ru-RU" dirty="0"/>
              <a:t> Создание и актуализация карт.</a:t>
            </a:r>
          </a:p>
          <a:p>
            <a:r>
              <a:rPr lang="ru-RU" b="1" dirty="0"/>
              <a:t>ЧС:</a:t>
            </a:r>
            <a:r>
              <a:rPr lang="ru-RU" dirty="0"/>
              <a:t> Оценка пожаров, наводнений, землетрясений.</a:t>
            </a:r>
          </a:p>
          <a:p>
            <a:r>
              <a:rPr lang="ru-RU" b="1" dirty="0"/>
              <a:t>Экология:</a:t>
            </a:r>
            <a:r>
              <a:rPr lang="ru-RU" dirty="0"/>
              <a:t> Контроль вырубки лесов, загрязнений.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423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14502-04CE-6D60-4CF9-022B3261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эффективно?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003D6-E30D-28AE-D1AD-F7B9EF263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Оперативность:</a:t>
            </a:r>
            <a:r>
              <a:rPr lang="ru-RU" dirty="0"/>
              <a:t> Быстрый охват огромных территорий.</a:t>
            </a:r>
          </a:p>
          <a:p>
            <a:r>
              <a:rPr lang="ru-RU" b="1" dirty="0"/>
              <a:t>Объективность:</a:t>
            </a:r>
            <a:r>
              <a:rPr lang="ru-RU" dirty="0"/>
              <a:t> Данные основаны на точных измерениях.</a:t>
            </a:r>
          </a:p>
          <a:p>
            <a:r>
              <a:rPr lang="ru-RU" b="1" dirty="0"/>
              <a:t>Безопасность:</a:t>
            </a:r>
            <a:r>
              <a:rPr lang="ru-RU" dirty="0"/>
              <a:t> Мониторинг опасных зон (вулканы, ЧС).</a:t>
            </a:r>
          </a:p>
          <a:p>
            <a:r>
              <a:rPr lang="ru-RU" b="1" dirty="0"/>
              <a:t>Доступность:</a:t>
            </a:r>
            <a:r>
              <a:rPr lang="ru-RU" dirty="0"/>
              <a:t> Снижение затрат на наземные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36250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4BDF4-06C8-0E20-9403-7E0F5983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Потенциальное будущее ДЗЗ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D32C3-97E9-13AA-41F0-618010D7A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Созвездия спутников:</a:t>
            </a:r>
            <a:r>
              <a:rPr lang="ru-RU" dirty="0"/>
              <a:t> Ежедневный мониторинг любой точки.</a:t>
            </a:r>
          </a:p>
          <a:p>
            <a:r>
              <a:rPr lang="ru-RU" b="1" dirty="0"/>
              <a:t>Искусственный интеллект:</a:t>
            </a:r>
            <a:r>
              <a:rPr lang="ru-RU" dirty="0"/>
              <a:t> Автоматический анализ данных и прогнозирование.</a:t>
            </a:r>
          </a:p>
          <a:p>
            <a:r>
              <a:rPr lang="ru-RU" b="1" dirty="0"/>
              <a:t>Новые технологии:</a:t>
            </a:r>
            <a:r>
              <a:rPr lang="ru-RU" dirty="0"/>
              <a:t> </a:t>
            </a:r>
            <a:r>
              <a:rPr lang="ru-RU" dirty="0" err="1"/>
              <a:t>Гиперспектральная</a:t>
            </a:r>
            <a:r>
              <a:rPr lang="ru-RU" dirty="0"/>
              <a:t> съемка для еще более детального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310471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E02BA-E532-C7F5-3C7D-CA37F5F40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43D4EC-A82D-4D9D-FAB1-335C12AFC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16460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439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Ион</vt:lpstr>
      <vt:lpstr>ДИСТАНЦИОННОЕ ЗОНДИРОВАНИЕ ЗЕМЛИ (ДЗЗ)</vt:lpstr>
      <vt:lpstr>Что такое ДЗЗ?</vt:lpstr>
      <vt:lpstr>Как это работает? Два ключевых параметра </vt:lpstr>
      <vt:lpstr>Откуда ведется наблюдение? </vt:lpstr>
      <vt:lpstr>РЕСУРС-П</vt:lpstr>
      <vt:lpstr>Применение на практике</vt:lpstr>
      <vt:lpstr>Почему это эффективно? </vt:lpstr>
      <vt:lpstr>Потенциальное будущее ДЗЗ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Ильич</dc:creator>
  <cp:lastModifiedBy>student</cp:lastModifiedBy>
  <cp:revision>3</cp:revision>
  <dcterms:created xsi:type="dcterms:W3CDTF">2025-10-02T20:12:25Z</dcterms:created>
  <dcterms:modified xsi:type="dcterms:W3CDTF">2025-11-07T08:55:57Z</dcterms:modified>
</cp:coreProperties>
</file>